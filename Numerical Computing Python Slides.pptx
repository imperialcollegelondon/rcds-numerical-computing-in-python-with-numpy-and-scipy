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323" r:id="rId2"/>
    <p:sldId id="334" r:id="rId3"/>
    <p:sldId id="361" r:id="rId4"/>
    <p:sldId id="408" r:id="rId5"/>
    <p:sldId id="407" r:id="rId6"/>
    <p:sldId id="359" r:id="rId7"/>
    <p:sldId id="279" r:id="rId8"/>
  </p:sldIdLst>
  <p:sldSz cx="12192000" cy="6858000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29783-9FB4-4945-9270-891D02F365F8}" v="2" dt="2026-10-09T10:05:39.597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2" autoAdjust="0"/>
    <p:restoredTop sz="71436" autoAdjust="0"/>
  </p:normalViewPr>
  <p:slideViewPr>
    <p:cSldViewPr snapToGrid="0" showGuides="1">
      <p:cViewPr varScale="1">
        <p:scale>
          <a:sx n="53" d="100"/>
          <a:sy n="53" d="100"/>
        </p:scale>
        <p:origin x="132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13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1312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ling, Chris" userId="6dcf99c9-2ba5-410a-8445-0893a3d1421f" providerId="ADAL" clId="{0564427D-CD1D-4B33-9C97-2A8069F97102}"/>
    <pc:docChg chg="custSel modSld">
      <pc:chgData name="Cooling, Chris" userId="6dcf99c9-2ba5-410a-8445-0893a3d1421f" providerId="ADAL" clId="{0564427D-CD1D-4B33-9C97-2A8069F97102}" dt="2026-10-09T10:05:44.900" v="9" actId="255"/>
      <pc:docMkLst>
        <pc:docMk/>
      </pc:docMkLst>
      <pc:sldChg chg="addSp delSp modSp mod">
        <pc:chgData name="Cooling, Chris" userId="6dcf99c9-2ba5-410a-8445-0893a3d1421f" providerId="ADAL" clId="{0564427D-CD1D-4B33-9C97-2A8069F97102}" dt="2026-10-09T10:05:44.900" v="9" actId="255"/>
        <pc:sldMkLst>
          <pc:docMk/>
          <pc:sldMk cId="1507190070" sldId="359"/>
        </pc:sldMkLst>
        <pc:spChg chg="del">
          <ac:chgData name="Cooling, Chris" userId="6dcf99c9-2ba5-410a-8445-0893a3d1421f" providerId="ADAL" clId="{0564427D-CD1D-4B33-9C97-2A8069F97102}" dt="2026-10-09T10:05:05.159" v="1" actId="478"/>
          <ac:spMkLst>
            <pc:docMk/>
            <pc:sldMk cId="1507190070" sldId="359"/>
            <ac:spMk id="3" creationId="{20C7DBC8-6B4B-6860-9339-77D08AD9EA11}"/>
          </ac:spMkLst>
        </pc:spChg>
        <pc:spChg chg="add del mod">
          <ac:chgData name="Cooling, Chris" userId="6dcf99c9-2ba5-410a-8445-0893a3d1421f" providerId="ADAL" clId="{0564427D-CD1D-4B33-9C97-2A8069F97102}" dt="2026-10-09T10:05:07.121" v="2" actId="478"/>
          <ac:spMkLst>
            <pc:docMk/>
            <pc:sldMk cId="1507190070" sldId="359"/>
            <ac:spMk id="5" creationId="{47FA2857-A964-107D-C469-D0922207FF2B}"/>
          </ac:spMkLst>
        </pc:spChg>
        <pc:spChg chg="mod">
          <ac:chgData name="Cooling, Chris" userId="6dcf99c9-2ba5-410a-8445-0893a3d1421f" providerId="ADAL" clId="{0564427D-CD1D-4B33-9C97-2A8069F97102}" dt="2026-10-09T10:05:44.900" v="9" actId="255"/>
          <ac:spMkLst>
            <pc:docMk/>
            <pc:sldMk cId="1507190070" sldId="359"/>
            <ac:spMk id="6" creationId="{F67B57BE-29B8-B7BA-15CB-930F83F6EB26}"/>
          </ac:spMkLst>
        </pc:spChg>
        <pc:picChg chg="del">
          <ac:chgData name="Cooling, Chris" userId="6dcf99c9-2ba5-410a-8445-0893a3d1421f" providerId="ADAL" clId="{0564427D-CD1D-4B33-9C97-2A8069F97102}" dt="2026-10-09T10:03:29.425" v="0" actId="478"/>
          <ac:picMkLst>
            <pc:docMk/>
            <pc:sldMk cId="1507190070" sldId="359"/>
            <ac:picMk id="10" creationId="{A20E0870-387C-038E-2FE2-610F7CDA6BCB}"/>
          </ac:picMkLst>
        </pc:picChg>
        <pc:picChg chg="add mod">
          <ac:chgData name="Cooling, Chris" userId="6dcf99c9-2ba5-410a-8445-0893a3d1421f" providerId="ADAL" clId="{0564427D-CD1D-4B33-9C97-2A8069F97102}" dt="2026-10-09T10:05:14.675" v="6" actId="14100"/>
          <ac:picMkLst>
            <pc:docMk/>
            <pc:sldMk cId="1507190070" sldId="359"/>
            <ac:picMk id="12" creationId="{F304293B-9097-C094-8B63-0AD5D0849C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0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Check Gotchas/gotchas.f90 for example of behaviour you might </a:t>
            </a:r>
            <a:r>
              <a:rPr lang="en-GB"/>
              <a:t>not expect.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840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5337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03557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89454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464863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49ABA-BA00-49F0-AB6C-579A76DE81A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rgbClr val="232333"/>
                </a:solidFill>
              </a:defRPr>
            </a:lvl1pPr>
            <a:lvl2pP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1C98-8479-4828-BB5C-30B196EE3328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00FF7F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00FF7F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D48B8-3660-4BCE-936E-EDD9878A69D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232333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232333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232333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232333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232333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51B4A7-045E-4F54-89B5-6C85E0E9F06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50FB-607E-48F6-B352-925A009F2407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C0F6D-2CAD-40E7-8816-197D4CFD57EA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9E7B-5C6D-410C-BA5A-90F82E614BA9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C03D5-07B1-49A6-9D03-E6F483086CF3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06B-196D-49F6-A804-81695D9AB71C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4B911-EE3B-464D-A82A-03386C191734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DF3F-69B2-443C-ABFC-2506B6B9B4A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65CE2-1788-4C70-8660-CE6112A66C1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5E9D-BB37-43E7-B04D-AC709FAE6E06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AA2CB-5711-4AE2-A72C-0CFFF46AB65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4FF-199D-4164-827A-6989A9C98BC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8B21-6ED8-4577-9E0B-18FEFD97DD0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6400"/>
              </a:buClr>
              <a:defRPr sz="1800"/>
            </a:lvl3pPr>
            <a:lvl4pPr rtl="0">
              <a:buClr>
                <a:srgbClr val="006400"/>
              </a:buClr>
              <a:defRPr sz="1800"/>
            </a:lvl4pPr>
            <a:lvl5pPr rtl="0"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934A5-F022-4149-AAAC-0C859B12A31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E684F-9A08-448C-BED5-6F327716686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5200-F787-4750-A0F0-A336E182065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2FCD787-FC19-480B-8572-82178477D89C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2257F49-A392-4F57-9176-82CC576F6401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8807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F76460-94B8-482C-A25F-539DD17561C9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 descr="A black and white image of two people&#10;&#10;Description automatically generated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74679A-5507-46DF-9523-DEF9F407BDD1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736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930A6-A8A2-443A-85C8-77AE7115E22C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7928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33DE77-94DC-4F56-B8E0-B57A71BE9C1B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246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368611-C6D7-4D57-BFBC-83364362825D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5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EB1988-F948-4F42-95D0-4980219C3D30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026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FC955-64F0-4C8C-81A3-364FF2C3C78A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103B-753A-448B-AF6B-43077BE30C48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60D43-C370-438B-994B-3E64E42A492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3DBC-7CDC-4499-AD45-D68113A07BD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16C37-CA97-4AD3-9C73-2949A988C5B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8750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484D4-9508-4033-8277-6C19B2FC68C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DC00A-CD68-400A-9806-2BBF3CC0C6DA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92821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D9559-A426-4E1F-AFC6-6EE424A7DE4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15FCA-92F0-49A6-B6F1-5BB6A2FB96E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1288-ABF3-4FF8-8879-48218C532F7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497E-A8CD-4CEB-9AB5-26F78642B93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0DEC8-2921-4E52-A8FC-5C2F8E2FE9B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60F0-99AD-4729-A690-A2594EE3B2F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2FF3-83FD-4D43-A69A-C1E39B84A578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9AFFA-8DB2-4812-96BA-17E7D1ADCBD8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6400"/>
              </a:buClr>
              <a:defRPr sz="1800"/>
            </a:lvl3pPr>
            <a:lvl4pPr>
              <a:buClr>
                <a:srgbClr val="006400"/>
              </a:buClr>
              <a:defRPr sz="1800"/>
            </a:lvl4pPr>
            <a:lvl5pPr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7F342-4248-4FB1-A938-9688BF0062AA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B5BAE-2936-42C2-953B-9323D144D48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A20B-0065-40A6-BB21-BDB11E67847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98DBF964-2C27-A4D1-7AEE-2AE56263D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70" y="327819"/>
            <a:ext cx="11536293" cy="22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9DDF72-DF0B-FA74-2E07-D490692B3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188" y="327819"/>
            <a:ext cx="3964683" cy="10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rgbClr val="232333"/>
                </a:solidFill>
              </a:defRPr>
            </a:lvl1pPr>
          </a:lstStyle>
          <a:p>
            <a:fld id="{0C7394F2-6A79-4799-9504-CB984DD0A702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rgbClr val="232333"/>
                </a:solidFill>
              </a:defRPr>
            </a:lvl1pPr>
          </a:lstStyle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rgbClr val="232333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rgbClr val="232333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715" r:id="rId2"/>
    <p:sldLayoutId id="2147483716" r:id="rId3"/>
    <p:sldLayoutId id="2147483717" r:id="rId4"/>
    <p:sldLayoutId id="2147483718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721" r:id="rId26"/>
    <p:sldLayoutId id="2147483666" r:id="rId27"/>
    <p:sldLayoutId id="2147483719" r:id="rId28"/>
    <p:sldLayoutId id="2147483720" r:id="rId29"/>
    <p:sldLayoutId id="2147483722" r:id="rId30"/>
    <p:sldLayoutId id="2147483723" r:id="rId31"/>
    <p:sldLayoutId id="2147483724" r:id="rId32"/>
    <p:sldLayoutId id="2147483661" r:id="rId33"/>
    <p:sldLayoutId id="2147483695" r:id="rId34"/>
    <p:sldLayoutId id="2147483696" r:id="rId35"/>
    <p:sldLayoutId id="2147483669" r:id="rId36"/>
    <p:sldLayoutId id="2147483697" r:id="rId37"/>
    <p:sldLayoutId id="2147483698" r:id="rId38"/>
    <p:sldLayoutId id="2147483678" r:id="rId39"/>
    <p:sldLayoutId id="2147483699" r:id="rId40"/>
    <p:sldLayoutId id="2147483700" r:id="rId41"/>
    <p:sldLayoutId id="2147483662" r:id="rId42"/>
    <p:sldLayoutId id="2147483701" r:id="rId43"/>
    <p:sldLayoutId id="2147483702" r:id="rId44"/>
    <p:sldLayoutId id="2147483663" r:id="rId45"/>
    <p:sldLayoutId id="2147483703" r:id="rId46"/>
    <p:sldLayoutId id="2147483704" r:id="rId47"/>
    <p:sldLayoutId id="2147483664" r:id="rId48"/>
    <p:sldLayoutId id="2147483705" r:id="rId49"/>
    <p:sldLayoutId id="2147483706" r:id="rId50"/>
    <p:sldLayoutId id="2147483665" r:id="rId51"/>
    <p:sldLayoutId id="2147483670" r:id="rId52"/>
    <p:sldLayoutId id="2147483673" r:id="rId5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06400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erialCollegeLondon/RCDS-numerical-computing-in-python-with-numpy-and-scipy/blob/master/README.md" TargetMode="External"/><Relationship Id="rId2" Type="http://schemas.openxmlformats.org/officeDocument/2006/relationships/hyperlink" Target="https://github.com/ImperialCollegeLondon/RCDS-numerical-computing-in-python-with-numpy-and-scipy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imperialcollegelondon.github.io/ReCoDE-PythonGUI/" TargetMode="External"/><Relationship Id="rId3" Type="http://schemas.openxmlformats.org/officeDocument/2006/relationships/hyperlink" Target="https://imperialcollegelondon.github.io/ReCoDE-home/exemplars/" TargetMode="External"/><Relationship Id="rId7" Type="http://schemas.openxmlformats.org/officeDocument/2006/relationships/hyperlink" Target="https://imperialcollegelondon.github.io/ReCoDE-AIForPatent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imperialcollegelondon.github.io/ReCoDE-FirstDawn/" TargetMode="External"/><Relationship Id="rId5" Type="http://schemas.openxmlformats.org/officeDocument/2006/relationships/hyperlink" Target="https://imperialcollegelondon.github.io/ReCoDe-Euler-Maruyama/" TargetMode="External"/><Relationship Id="rId4" Type="http://schemas.openxmlformats.org/officeDocument/2006/relationships/hyperlink" Target="https://imperialcollegelondon.github.io/ReCoDE-hom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cri.short.gy/feedback-num-comp-p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0BFE-CB41-E791-4D9C-03A91DA14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Numerical Computing in Python with </a:t>
            </a:r>
            <a:r>
              <a:rPr lang="en-US" dirty="0" err="1"/>
              <a:t>Numpy</a:t>
            </a:r>
            <a:r>
              <a:rPr lang="en-US" dirty="0"/>
              <a:t> and </a:t>
            </a:r>
            <a:r>
              <a:rPr lang="en-US" dirty="0" err="1"/>
              <a:t>Scipy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39DCA-92DD-EBA0-CA5E-0801020A1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Cooling</a:t>
            </a:r>
          </a:p>
          <a:p>
            <a:r>
              <a:rPr lang="en-GB" dirty="0"/>
              <a:t>ECRI Senior Teaching Fellow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7295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/>
              <a:t>Important Information on Marking your Attendance on Inkpath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7" y="1773239"/>
            <a:ext cx="11541125" cy="3608230"/>
          </a:xfrm>
        </p:spPr>
        <p:txBody>
          <a:bodyPr/>
          <a:lstStyle/>
          <a:p>
            <a:r>
              <a:rPr lang="en-GB" sz="3200" dirty="0"/>
              <a:t>I will show you a QR code at the end of the session allowing you to mark your attendance on Inkpath. Please do not mark your attendance until then.</a:t>
            </a:r>
            <a:br>
              <a:rPr lang="en-GB" sz="3200" dirty="0"/>
            </a:b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If you are a Postgraduate Research student, this is required for receiving your ECRI professional development credit for this course.</a:t>
            </a:r>
            <a:endParaRPr lang="en-GB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F9409C4F-AE5B-411C-A303-00D73C3F3F54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186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key functionality and advantages of NumPy and SciPy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Utilise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NumPy arrays to store and perform operations on data sets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Locate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appropriate SciPy functions for a specific problem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basic programs using NumPy and SciPy to solve numerical problems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B0B4787F-07F8-4B97-8171-1C77C09DEA4C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75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course materials are stored in a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GitHub repository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Instructions for using the materials are found in the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readme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Links to open the course notebooks in </a:t>
            </a:r>
            <a:r>
              <a:rPr lang="en-US" sz="3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Colab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are at the bottom of the readme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materials can also be downloaded and run locally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also star/fork the repository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483A4E1F-9BA6-475E-A9BD-8EA1A7E86E14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6149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 err="1"/>
              <a:t>ReCoDE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DBF64851-09F6-4432-9B2A-09AAFE64E389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5313110" cy="137319"/>
          </a:xfrm>
        </p:spPr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49521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E72B19A-BAEF-7DAE-DDC1-54394DA86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409363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 RCDS team has curated a collection of annotated </a:t>
            </a:r>
            <a:r>
              <a:rPr lang="en-GB" dirty="0">
                <a:hlinkClick r:id="rId3"/>
              </a:rPr>
              <a:t>exemplar projects</a:t>
            </a:r>
            <a:r>
              <a:rPr lang="en-GB" dirty="0"/>
              <a:t> known as </a:t>
            </a:r>
            <a:r>
              <a:rPr lang="en-GB" dirty="0" err="1">
                <a:hlinkClick r:id="rId4"/>
              </a:rPr>
              <a:t>ReCoDE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These demonstrate core research computing and data science principles applied to real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Accompanied by detailed descriptions of how they work, and the design decisions taken.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dirty="0" err="1"/>
              <a:t>Numpy</a:t>
            </a:r>
            <a:r>
              <a:rPr lang="en-GB" dirty="0"/>
              <a:t> and </a:t>
            </a:r>
            <a:r>
              <a:rPr lang="en-GB" dirty="0" err="1"/>
              <a:t>Scipy</a:t>
            </a:r>
            <a:r>
              <a:rPr lang="en-GB" dirty="0"/>
              <a:t> exemplars:</a:t>
            </a:r>
          </a:p>
          <a:p>
            <a:pPr marL="504891" lvl="2" indent="-342900"/>
            <a:r>
              <a:rPr lang="en-US" dirty="0">
                <a:hlinkClick r:id="rId5"/>
              </a:rPr>
              <a:t>Euler-Maruyama Method</a:t>
            </a:r>
            <a:endParaRPr lang="en-US" dirty="0"/>
          </a:p>
          <a:p>
            <a:pPr marL="666884" lvl="3" indent="-342900"/>
            <a:r>
              <a:rPr lang="en-US" dirty="0"/>
              <a:t>Solving </a:t>
            </a:r>
            <a:r>
              <a:rPr lang="en-GB" dirty="0"/>
              <a:t>Stochastic Differential Equations</a:t>
            </a:r>
          </a:p>
          <a:p>
            <a:pPr marL="666884" lvl="3" indent="-342900"/>
            <a:r>
              <a:rPr lang="en-GB" dirty="0"/>
              <a:t>Performs a numerical simulation using </a:t>
            </a:r>
            <a:r>
              <a:rPr lang="en-GB" dirty="0" err="1"/>
              <a:t>Numpy</a:t>
            </a:r>
            <a:r>
              <a:rPr lang="en-GB" dirty="0"/>
              <a:t> arrays</a:t>
            </a:r>
          </a:p>
          <a:p>
            <a:pPr marL="666884" lvl="3" indent="-342900"/>
            <a:r>
              <a:rPr lang="en-GB" dirty="0"/>
              <a:t>Incorporates </a:t>
            </a:r>
            <a:r>
              <a:rPr lang="en-GB" dirty="0" err="1"/>
              <a:t>Numpy</a:t>
            </a:r>
            <a:r>
              <a:rPr lang="en-GB" dirty="0"/>
              <a:t> into an object-oriented code</a:t>
            </a:r>
          </a:p>
          <a:p>
            <a:pPr marL="504891" lvl="2" indent="-342900"/>
            <a:r>
              <a:rPr lang="en-US" b="0" i="0" dirty="0">
                <a:effectLst/>
                <a:latin typeface="Roboto" panose="02000000000000000000" pitchFamily="2" charset="0"/>
                <a:hlinkClick r:id="rId6"/>
              </a:rPr>
              <a:t>Using Convolutional Neural Networks to extract information from the Cosmic Dawn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666884" lvl="3" indent="-342900"/>
            <a:r>
              <a:rPr lang="en-US" dirty="0">
                <a:latin typeface="Roboto" panose="02000000000000000000" pitchFamily="2" charset="0"/>
              </a:rPr>
              <a:t>Uses </a:t>
            </a:r>
            <a:r>
              <a:rPr lang="en-US" dirty="0" err="1">
                <a:latin typeface="Roboto" panose="02000000000000000000" pitchFamily="2" charset="0"/>
              </a:rPr>
              <a:t>Numpy</a:t>
            </a:r>
            <a:r>
              <a:rPr lang="en-US" dirty="0">
                <a:latin typeface="Roboto" panose="02000000000000000000" pitchFamily="2" charset="0"/>
              </a:rPr>
              <a:t> to store data to be uses by </a:t>
            </a:r>
            <a:r>
              <a:rPr lang="en-US" dirty="0" err="1">
                <a:latin typeface="Roboto" panose="02000000000000000000" pitchFamily="2" charset="0"/>
              </a:rPr>
              <a:t>Tensorflow</a:t>
            </a:r>
            <a:endParaRPr lang="en-GB" dirty="0"/>
          </a:p>
          <a:p>
            <a:pPr marL="504891" lvl="2" indent="-342900"/>
            <a:r>
              <a:rPr lang="en-US" dirty="0">
                <a:hlinkClick r:id="rId7"/>
              </a:rPr>
              <a:t>Binary Classification of Patent Text Using Natural Language Processing</a:t>
            </a:r>
            <a:endParaRPr lang="en-US" dirty="0"/>
          </a:p>
          <a:p>
            <a:pPr marL="666884" lvl="3" indent="-342900"/>
            <a:r>
              <a:rPr lang="en-US" dirty="0"/>
              <a:t>Uses NLP for classification problems</a:t>
            </a:r>
          </a:p>
          <a:p>
            <a:pPr marL="666884" lvl="3" indent="-342900"/>
            <a:r>
              <a:rPr lang="en-US" dirty="0"/>
              <a:t>Uses </a:t>
            </a:r>
            <a:r>
              <a:rPr lang="en-US" dirty="0" err="1"/>
              <a:t>Numpy</a:t>
            </a:r>
            <a:r>
              <a:rPr lang="en-US" dirty="0"/>
              <a:t> to store and prepare data</a:t>
            </a:r>
          </a:p>
          <a:p>
            <a:pPr marL="504891" lvl="2" indent="-342900"/>
            <a:r>
              <a:rPr lang="en-US" b="0" i="0" dirty="0">
                <a:effectLst/>
                <a:latin typeface="Roboto" panose="02000000000000000000" pitchFamily="2" charset="0"/>
                <a:hlinkClick r:id="rId8"/>
              </a:rPr>
              <a:t>A Multi-Channel GUI for Real-</a:t>
            </a:r>
            <a:r>
              <a:rPr lang="en-US" dirty="0">
                <a:latin typeface="Roboto" panose="02000000000000000000" pitchFamily="2" charset="0"/>
                <a:hlinkClick r:id="rId8"/>
              </a:rPr>
              <a:t>Ti</a:t>
            </a:r>
            <a:r>
              <a:rPr lang="en-US" b="0" i="0" dirty="0">
                <a:effectLst/>
                <a:latin typeface="Roboto" panose="02000000000000000000" pitchFamily="2" charset="0"/>
                <a:hlinkClick r:id="rId8"/>
              </a:rPr>
              <a:t>me </a:t>
            </a:r>
            <a:r>
              <a:rPr lang="en-US" dirty="0">
                <a:latin typeface="Roboto" panose="02000000000000000000" pitchFamily="2" charset="0"/>
                <a:hlinkClick r:id="rId8"/>
              </a:rPr>
              <a:t>D</a:t>
            </a:r>
            <a:r>
              <a:rPr lang="en-US" b="0" i="0" dirty="0">
                <a:effectLst/>
                <a:latin typeface="Roboto" panose="02000000000000000000" pitchFamily="2" charset="0"/>
                <a:hlinkClick r:id="rId8"/>
              </a:rPr>
              <a:t>ata </a:t>
            </a:r>
            <a:r>
              <a:rPr lang="en-US" dirty="0">
                <a:latin typeface="Roboto" panose="02000000000000000000" pitchFamily="2" charset="0"/>
                <a:hlinkClick r:id="rId8"/>
              </a:rPr>
              <a:t>D</a:t>
            </a:r>
            <a:r>
              <a:rPr lang="en-US" b="0" i="0" dirty="0">
                <a:effectLst/>
                <a:latin typeface="Roboto" panose="02000000000000000000" pitchFamily="2" charset="0"/>
                <a:hlinkClick r:id="rId8"/>
              </a:rPr>
              <a:t>isplay and Analysis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666884" lvl="3" indent="-342900"/>
            <a:r>
              <a:rPr lang="en-US" b="0" i="0" dirty="0">
                <a:effectLst/>
                <a:latin typeface="Roboto" panose="02000000000000000000" pitchFamily="2" charset="0"/>
              </a:rPr>
              <a:t>Stores and man</a:t>
            </a:r>
            <a:r>
              <a:rPr lang="en-US" dirty="0">
                <a:latin typeface="Roboto" panose="02000000000000000000" pitchFamily="2" charset="0"/>
              </a:rPr>
              <a:t>ipulated data in </a:t>
            </a:r>
            <a:r>
              <a:rPr lang="en-US" dirty="0" err="1">
                <a:latin typeface="Roboto" panose="02000000000000000000" pitchFamily="2" charset="0"/>
              </a:rPr>
              <a:t>Numpy</a:t>
            </a:r>
            <a:r>
              <a:rPr lang="en-US" dirty="0">
                <a:latin typeface="Roboto" panose="02000000000000000000" pitchFamily="2" charset="0"/>
              </a:rPr>
              <a:t> arrays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504891" lvl="2" indent="-34290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59421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A737-0B87-8D06-30BC-159A01E5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E690-3DB5-C8AC-A9B4-2E152B27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3 minutes to complete the evaluation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4DF49-9A4D-5154-542F-80280136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88ADB-11DD-4A55-AEA4-878F0F9346A7}" type="datetime1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11AD-8D42-0DE4-1E96-E0C6A5A1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Numerical Computing in Python with Numpy and Scipy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DDFA7-DE3D-8D77-CFD3-B19A6CF5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B57BE-29B8-B7BA-15CB-930F83F6EB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68248" y="1509025"/>
            <a:ext cx="5489924" cy="41422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Once you’ve completed this course, please provide feedback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The link is </a:t>
            </a:r>
            <a:r>
              <a:rPr lang="en-GB" sz="2800" dirty="0">
                <a:hlinkClick r:id="rId3"/>
              </a:rPr>
              <a:t>https://ecri.short.gy/feedback-num-comp-py</a:t>
            </a:r>
            <a:endParaRPr lang="en-GB" sz="28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You should also have received an email with this link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This helps us improve the class for future students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04293B-9097-C094-8B63-0AD5D0849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99" y="876299"/>
            <a:ext cx="5211679" cy="521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007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>
                <a:solidFill>
                  <a:srgbClr val="98FB98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US" dirty="0"/>
              <a:t>Presentation Title</a:t>
            </a:r>
          </a:p>
          <a:p>
            <a:r>
              <a:rPr lang="en-US" dirty="0"/>
              <a:t>DD/MM/YYYY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16_9 template.potx" id="{0A6366DA-4143-4819-954D-649CAC6891CC}" vid="{00E466E9-FA83-448D-94BE-48FEA435C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3737</TotalTime>
  <Words>422</Words>
  <Application>Microsoft Office PowerPoint</Application>
  <PresentationFormat>Widescreen</PresentationFormat>
  <Paragraphs>59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Roboto</vt:lpstr>
      <vt:lpstr>Times New Roman</vt:lpstr>
      <vt:lpstr>Arial</vt:lpstr>
      <vt:lpstr>ICL PPT Theme</vt:lpstr>
      <vt:lpstr>Numerical Computing in Python with Numpy and Scipy</vt:lpstr>
      <vt:lpstr>Important Information on Marking your Attendance on Inkpath</vt:lpstr>
      <vt:lpstr>Learning Outcomes</vt:lpstr>
      <vt:lpstr>Course Materials</vt:lpstr>
      <vt:lpstr>ReCoDE</vt:lpstr>
      <vt:lpstr>Please take 3 minutes to complete the evaluation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xxxxx</dc:title>
  <dc:creator>Carly Murphy-Merrydew</dc:creator>
  <cp:lastModifiedBy>Cooling, Chris</cp:lastModifiedBy>
  <cp:revision>15</cp:revision>
  <dcterms:created xsi:type="dcterms:W3CDTF">2024-09-12T08:44:53Z</dcterms:created>
  <dcterms:modified xsi:type="dcterms:W3CDTF">2026-10-09T10:05:46Z</dcterms:modified>
</cp:coreProperties>
</file>